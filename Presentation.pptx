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HONOR Sans Medium" panose="00000200000000000000" pitchFamily="2" charset="-122"/>
      <p:regular r:id="rId11"/>
    </p:embeddedFont>
    <p:embeddedFont>
      <p:font typeface="Inter" panose="020B0604020202020204" charset="0"/>
      <p:regular r:id="rId12"/>
    </p:embeddedFont>
    <p:embeddedFont>
      <p:font typeface="Unbounded" panose="020B0604020202020204" charset="-52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60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ексей Киргетов" userId="4e7d8fc023b7eda8" providerId="LiveId" clId="{7E545D48-754A-44DD-ABAC-CEFCEE529302}"/>
    <pc:docChg chg="undo custSel modSld">
      <pc:chgData name="Алексей Киргетов" userId="4e7d8fc023b7eda8" providerId="LiveId" clId="{7E545D48-754A-44DD-ABAC-CEFCEE529302}" dt="2026-09-27T03:55:52.641" v="11" actId="2711"/>
      <pc:docMkLst>
        <pc:docMk/>
      </pc:docMkLst>
      <pc:sldChg chg="modSp mod">
        <pc:chgData name="Алексей Киргетов" userId="4e7d8fc023b7eda8" providerId="LiveId" clId="{7E545D48-754A-44DD-ABAC-CEFCEE529302}" dt="2026-09-27T03:55:24.390" v="2" actId="2711"/>
        <pc:sldMkLst>
          <pc:docMk/>
          <pc:sldMk cId="0" sldId="258"/>
        </pc:sldMkLst>
        <pc:spChg chg="mod">
          <ac:chgData name="Алексей Киргетов" userId="4e7d8fc023b7eda8" providerId="LiveId" clId="{7E545D48-754A-44DD-ABAC-CEFCEE529302}" dt="2026-09-27T03:55:24.390" v="2" actId="2711"/>
          <ac:spMkLst>
            <pc:docMk/>
            <pc:sldMk cId="0" sldId="258"/>
            <ac:spMk id="5" creationId="{00000000-0000-0000-0000-000000000000}"/>
          </ac:spMkLst>
        </pc:spChg>
        <pc:spChg chg="mod">
          <ac:chgData name="Алексей Киргетов" userId="4e7d8fc023b7eda8" providerId="LiveId" clId="{7E545D48-754A-44DD-ABAC-CEFCEE529302}" dt="2026-09-27T03:55:24.390" v="2" actId="2711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Алексей Киргетов" userId="4e7d8fc023b7eda8" providerId="LiveId" clId="{7E545D48-754A-44DD-ABAC-CEFCEE529302}" dt="2026-09-27T03:55:36.523" v="4" actId="2711"/>
        <pc:sldMkLst>
          <pc:docMk/>
          <pc:sldMk cId="0" sldId="259"/>
        </pc:sldMkLst>
        <pc:spChg chg="mod">
          <ac:chgData name="Алексей Киргетов" userId="4e7d8fc023b7eda8" providerId="LiveId" clId="{7E545D48-754A-44DD-ABAC-CEFCEE529302}" dt="2026-09-27T03:55:36.523" v="4" actId="2711"/>
          <ac:spMkLst>
            <pc:docMk/>
            <pc:sldMk cId="0" sldId="259"/>
            <ac:spMk id="8" creationId="{00000000-0000-0000-0000-000000000000}"/>
          </ac:spMkLst>
        </pc:spChg>
        <pc:spChg chg="mod">
          <ac:chgData name="Алексей Киргетов" userId="4e7d8fc023b7eda8" providerId="LiveId" clId="{7E545D48-754A-44DD-ABAC-CEFCEE529302}" dt="2026-09-27T03:55:32.933" v="3" actId="2711"/>
          <ac:spMkLst>
            <pc:docMk/>
            <pc:sldMk cId="0" sldId="259"/>
            <ac:spMk id="9" creationId="{00000000-0000-0000-0000-000000000000}"/>
          </ac:spMkLst>
        </pc:spChg>
      </pc:sldChg>
      <pc:sldChg chg="modSp mod">
        <pc:chgData name="Алексей Киргетов" userId="4e7d8fc023b7eda8" providerId="LiveId" clId="{7E545D48-754A-44DD-ABAC-CEFCEE529302}" dt="2026-09-27T03:55:52.641" v="11" actId="2711"/>
        <pc:sldMkLst>
          <pc:docMk/>
          <pc:sldMk cId="0" sldId="260"/>
        </pc:sldMkLst>
        <pc:spChg chg="mod">
          <ac:chgData name="Алексей Киргетов" userId="4e7d8fc023b7eda8" providerId="LiveId" clId="{7E545D48-754A-44DD-ABAC-CEFCEE529302}" dt="2026-09-27T03:55:46.691" v="9" actId="2711"/>
          <ac:spMkLst>
            <pc:docMk/>
            <pc:sldMk cId="0" sldId="260"/>
            <ac:spMk id="5" creationId="{00000000-0000-0000-0000-000000000000}"/>
          </ac:spMkLst>
        </pc:spChg>
        <pc:spChg chg="mod">
          <ac:chgData name="Алексей Киргетов" userId="4e7d8fc023b7eda8" providerId="LiveId" clId="{7E545D48-754A-44DD-ABAC-CEFCEE529302}" dt="2026-09-27T03:55:52.641" v="11" actId="2711"/>
          <ac:spMkLst>
            <pc:docMk/>
            <pc:sldMk cId="0" sldId="260"/>
            <ac:spMk id="6" creationId="{00000000-0000-0000-0000-000000000000}"/>
          </ac:spMkLst>
        </pc:spChg>
        <pc:spChg chg="mod">
          <ac:chgData name="Алексей Киргетов" userId="4e7d8fc023b7eda8" providerId="LiveId" clId="{7E545D48-754A-44DD-ABAC-CEFCEE529302}" dt="2026-09-27T03:55:39.401" v="5" actId="2711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94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714375"/>
            <a:ext cx="4062412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72"/>
              </a:lnSpc>
              <a:buNone/>
            </a:pPr>
            <a:r>
              <a:rPr lang="en-US" sz="4560" b="1" kern="0" spc="-9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Финанс AI</a:t>
            </a:r>
            <a:endParaRPr lang="en-US" sz="4560" dirty="0"/>
          </a:p>
        </p:txBody>
      </p:sp>
      <p:sp>
        <p:nvSpPr>
          <p:cNvPr id="4" name="Text 1"/>
          <p:cNvSpPr/>
          <p:nvPr/>
        </p:nvSpPr>
        <p:spPr>
          <a:xfrm>
            <a:off x="609600" y="1828800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для отслеживания финансов для сдвгэшников</a:t>
            </a:r>
            <a:endParaRPr lang="en-US" sz="1283" dirty="0"/>
          </a:p>
        </p:txBody>
      </p:sp>
      <p:sp>
        <p:nvSpPr>
          <p:cNvPr id="5" name="Text 2"/>
          <p:cNvSpPr/>
          <p:nvPr/>
        </p:nvSpPr>
        <p:spPr>
          <a:xfrm>
            <a:off x="609600" y="2343150"/>
            <a:ext cx="7096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140" b="1" kern="0" spc="-23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Команда: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609600" y="2828925"/>
            <a:ext cx="823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140" b="1" kern="0" spc="-23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Участники:</a:t>
            </a:r>
            <a:endParaRPr lang="en-US" sz="114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" y="4538663"/>
            <a:ext cx="7924800" cy="95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23988" y="2314575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Drill</a:t>
            </a:r>
            <a:endParaRPr lang="en-US" sz="1283" dirty="0"/>
          </a:p>
        </p:txBody>
      </p:sp>
      <p:sp>
        <p:nvSpPr>
          <p:cNvPr id="9" name="Text 5"/>
          <p:cNvSpPr/>
          <p:nvPr/>
        </p:nvSpPr>
        <p:spPr>
          <a:xfrm>
            <a:off x="609600" y="3100388"/>
            <a:ext cx="43195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Мухоедов Григорий Алексеевич - капитан</a:t>
            </a:r>
            <a:endParaRPr lang="en-US" sz="1283" dirty="0"/>
          </a:p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Киргетов Алексей Павлович - дизайн</a:t>
            </a:r>
            <a:endParaRPr lang="en-US" sz="1283" dirty="0"/>
          </a:p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Темляков Егор Анатольевич - frontend разработка</a:t>
            </a:r>
            <a:endParaRPr lang="en-US" sz="1283" dirty="0"/>
          </a:p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Казьмин Cтепан Дмитриевич - frontend разработка</a:t>
            </a:r>
            <a:endParaRPr lang="en-US" sz="1283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53288" y="714375"/>
            <a:ext cx="900113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714375"/>
            <a:ext cx="2671763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Команда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2257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стартап-хакатон «пятый элемент» 2026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8205788" y="381000"/>
            <a:ext cx="238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8</a:t>
            </a:r>
            <a:endParaRPr lang="en-US" sz="85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96113" y="1738313"/>
            <a:ext cx="1576388" cy="20955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1738313"/>
            <a:ext cx="1809750" cy="20955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52988" y="1738313"/>
            <a:ext cx="1809750" cy="2100263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714625" y="1738313"/>
            <a:ext cx="1809750" cy="20955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38188" y="3943350"/>
            <a:ext cx="1476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5"/>
              </a:lnSpc>
              <a:buNone/>
            </a:pPr>
            <a:r>
              <a:rPr lang="en-US" sz="1140" b="1" kern="0" spc="-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Мухоедов григорий</a:t>
            </a:r>
            <a:endParaRPr lang="en-US" sz="1140" dirty="0"/>
          </a:p>
        </p:txBody>
      </p:sp>
      <p:sp>
        <p:nvSpPr>
          <p:cNvPr id="10" name="Text 4"/>
          <p:cNvSpPr/>
          <p:nvPr/>
        </p:nvSpPr>
        <p:spPr>
          <a:xfrm>
            <a:off x="1252538" y="4238625"/>
            <a:ext cx="4524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капитан</a:t>
            </a:r>
            <a:endParaRPr lang="en-US" sz="855" dirty="0"/>
          </a:p>
        </p:txBody>
      </p:sp>
      <p:sp>
        <p:nvSpPr>
          <p:cNvPr id="11" name="Text 5"/>
          <p:cNvSpPr/>
          <p:nvPr/>
        </p:nvSpPr>
        <p:spPr>
          <a:xfrm>
            <a:off x="3071813" y="3943350"/>
            <a:ext cx="1095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5"/>
              </a:lnSpc>
              <a:buNone/>
            </a:pPr>
            <a:r>
              <a:rPr lang="en-US" sz="1140" b="1" kern="0" spc="-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Темляков Егор</a:t>
            </a:r>
            <a:endParaRPr lang="en-US" sz="1140" dirty="0"/>
          </a:p>
        </p:txBody>
      </p:sp>
      <p:sp>
        <p:nvSpPr>
          <p:cNvPr id="12" name="Text 6"/>
          <p:cNvSpPr/>
          <p:nvPr/>
        </p:nvSpPr>
        <p:spPr>
          <a:xfrm>
            <a:off x="3048000" y="4238625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разработка</a:t>
            </a:r>
            <a:endParaRPr lang="en-US" sz="855" dirty="0"/>
          </a:p>
        </p:txBody>
      </p:sp>
      <p:sp>
        <p:nvSpPr>
          <p:cNvPr id="13" name="Text 7"/>
          <p:cNvSpPr/>
          <p:nvPr/>
        </p:nvSpPr>
        <p:spPr>
          <a:xfrm>
            <a:off x="5076825" y="3943350"/>
            <a:ext cx="13668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5"/>
              </a:lnSpc>
              <a:buNone/>
            </a:pPr>
            <a:r>
              <a:rPr lang="en-US" sz="1140" b="1" kern="0" spc="-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Киргетов Алексей</a:t>
            </a:r>
            <a:endParaRPr lang="en-US" sz="1140" dirty="0"/>
          </a:p>
        </p:txBody>
      </p:sp>
      <p:sp>
        <p:nvSpPr>
          <p:cNvPr id="14" name="Text 8"/>
          <p:cNvSpPr/>
          <p:nvPr/>
        </p:nvSpPr>
        <p:spPr>
          <a:xfrm>
            <a:off x="5557838" y="4238625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дизайн</a:t>
            </a:r>
            <a:endParaRPr lang="en-US" sz="855" dirty="0"/>
          </a:p>
        </p:txBody>
      </p:sp>
      <p:sp>
        <p:nvSpPr>
          <p:cNvPr id="15" name="Text 9"/>
          <p:cNvSpPr/>
          <p:nvPr/>
        </p:nvSpPr>
        <p:spPr>
          <a:xfrm>
            <a:off x="7177088" y="3943350"/>
            <a:ext cx="12239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5"/>
              </a:lnSpc>
              <a:buNone/>
            </a:pPr>
            <a:r>
              <a:rPr lang="en-US" sz="1140" b="1" kern="0" spc="-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Казьмин Степан</a:t>
            </a:r>
            <a:endParaRPr lang="en-US" sz="1140" dirty="0"/>
          </a:p>
        </p:txBody>
      </p:sp>
      <p:sp>
        <p:nvSpPr>
          <p:cNvPr id="16" name="Text 10"/>
          <p:cNvSpPr/>
          <p:nvPr/>
        </p:nvSpPr>
        <p:spPr>
          <a:xfrm>
            <a:off x="7215188" y="4238625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разработка</a:t>
            </a:r>
            <a:endParaRPr lang="en-US" sz="85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2257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стартап-хакатон «пятый элемент» 2026</a:t>
            </a:r>
            <a:endParaRPr lang="en-US" sz="855" dirty="0"/>
          </a:p>
        </p:txBody>
      </p:sp>
      <p:sp>
        <p:nvSpPr>
          <p:cNvPr id="3" name="Text 1"/>
          <p:cNvSpPr/>
          <p:nvPr/>
        </p:nvSpPr>
        <p:spPr>
          <a:xfrm>
            <a:off x="8205788" y="381000"/>
            <a:ext cx="242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8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571500" y="714375"/>
            <a:ext cx="3014663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Проблема</a:t>
            </a:r>
            <a:endParaRPr lang="en-US" sz="3420" dirty="0"/>
          </a:p>
        </p:txBody>
      </p:sp>
      <p:sp>
        <p:nvSpPr>
          <p:cNvPr id="5" name="Text 3"/>
          <p:cNvSpPr/>
          <p:nvPr/>
        </p:nvSpPr>
        <p:spPr>
          <a:xfrm>
            <a:off x="571500" y="1404938"/>
            <a:ext cx="74390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140" b="1" kern="0" spc="-23" dirty="0">
                <a:solidFill>
                  <a:srgbClr val="000000">
                    <a:alpha val="99000"/>
                  </a:srgbClr>
                </a:solidFill>
                <a:latin typeface="HONOR Sans Medium" panose="00000200000000000000" pitchFamily="2" charset="-122"/>
                <a:ea typeface="HONOR Sans Medium" panose="00000200000000000000" pitchFamily="2" charset="-122"/>
                <a:cs typeface="HONOR Sans Medium" panose="00000200000000000000" pitchFamily="2" charset="-122"/>
              </a:rPr>
              <a:t>Молодым людям 18–25 лет сложно понять свои финансы: данные о доходах и тратах разрознены, а накопления на крупные цели планировать нечем.</a:t>
            </a:r>
            <a:endParaRPr lang="en-US" sz="1140" dirty="0">
              <a:latin typeface="HONOR Sans Medium" panose="00000200000000000000" pitchFamily="2" charset="-122"/>
              <a:ea typeface="HONOR Sans Medium" panose="00000200000000000000" pitchFamily="2" charset="-122"/>
              <a:cs typeface="HONOR Sans Medium" panose="00000200000000000000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1500" y="2233613"/>
            <a:ext cx="74390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140" b="1" kern="0" spc="-23" dirty="0">
                <a:solidFill>
                  <a:srgbClr val="000000">
                    <a:alpha val="99000"/>
                  </a:srgbClr>
                </a:solidFill>
                <a:latin typeface="HONOR Sans Medium" panose="00000200000000000000" pitchFamily="2" charset="-122"/>
                <a:ea typeface="HONOR Sans Medium" panose="00000200000000000000" pitchFamily="2" charset="-122"/>
                <a:cs typeface="HONOR Sans Medium" panose="00000200000000000000" pitchFamily="2" charset="-122"/>
              </a:rPr>
              <a:t>Когда студенты начинают самостоятельно управлять деньгами, то сталкиваются с хаосом: сведения о доходах, расходах, регулярных платежах и целях сильно разрознены. Пользователю приходится самостоятельно сопоставлять огромный массив транзакций, из-за чего сложно понять структуру трат и спланировать накопления на крупные покупки. Финансовых данных много, но студенту банально непонятно, что с ними делать</a:t>
            </a:r>
            <a:endParaRPr lang="en-US" sz="1140" dirty="0">
              <a:latin typeface="HONOR Sans Medium" panose="00000200000000000000" pitchFamily="2" charset="-122"/>
              <a:ea typeface="HONOR Sans Medium" panose="00000200000000000000" pitchFamily="2" charset="-122"/>
              <a:cs typeface="HONOR Sans Medium" panose="000002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2257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стартап-хакатон «пятый элемент» 2026</a:t>
            </a:r>
            <a:endParaRPr lang="en-US" sz="855" dirty="0"/>
          </a:p>
        </p:txBody>
      </p:sp>
      <p:sp>
        <p:nvSpPr>
          <p:cNvPr id="3" name="Text 1"/>
          <p:cNvSpPr/>
          <p:nvPr/>
        </p:nvSpPr>
        <p:spPr>
          <a:xfrm>
            <a:off x="8205788" y="381000"/>
            <a:ext cx="242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8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571500" y="714375"/>
            <a:ext cx="41148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Пользователь</a:t>
            </a:r>
            <a:endParaRPr lang="en-US" sz="342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547813"/>
            <a:ext cx="2590800" cy="29765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05275" y="1557338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Основная ЦА: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105275" y="235743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Сегмент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4105275" y="1881187"/>
            <a:ext cx="28241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000000">
                    <a:alpha val="99000"/>
                  </a:srgbClr>
                </a:solidFill>
                <a:latin typeface="HONOR Sans Medium" panose="00000200000000000000" pitchFamily="2" charset="-122"/>
                <a:ea typeface="HONOR Sans Medium" panose="00000200000000000000" pitchFamily="2" charset="-122"/>
                <a:cs typeface="HONOR Sans Medium" panose="00000200000000000000" pitchFamily="2" charset="-122"/>
              </a:rPr>
              <a:t>Студенты, желающие отслеживать свои финансы</a:t>
            </a:r>
            <a:endParaRPr lang="en-US" sz="855" dirty="0">
              <a:latin typeface="HONOR Sans Medium" panose="00000200000000000000" pitchFamily="2" charset="-122"/>
              <a:ea typeface="HONOR Sans Medium" panose="00000200000000000000" pitchFamily="2" charset="-122"/>
              <a:cs typeface="HONOR Sans Medium" panose="00000200000000000000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4105275" y="2681288"/>
            <a:ext cx="14144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000000">
                    <a:alpha val="99000"/>
                  </a:srgbClr>
                </a:solidFill>
                <a:latin typeface="HONOR Sans Medium" panose="00000200000000000000" pitchFamily="2" charset="-122"/>
                <a:ea typeface="HONOR Sans Medium" panose="00000200000000000000" pitchFamily="2" charset="-122"/>
                <a:cs typeface="HONOR Sans Medium" panose="00000200000000000000" pitchFamily="2" charset="-122"/>
              </a:rPr>
              <a:t>Студенты с подработкой</a:t>
            </a:r>
            <a:endParaRPr lang="en-US" sz="855" dirty="0">
              <a:latin typeface="HONOR Sans Medium" panose="00000200000000000000" pitchFamily="2" charset="-122"/>
              <a:ea typeface="HONOR Sans Medium" panose="00000200000000000000" pitchFamily="2" charset="-122"/>
              <a:cs typeface="HONOR Sans Medium" panose="000002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2257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стартап-хакатон «пятый элемент» 2026</a:t>
            </a:r>
            <a:endParaRPr lang="en-US" sz="855" dirty="0"/>
          </a:p>
        </p:txBody>
      </p:sp>
      <p:sp>
        <p:nvSpPr>
          <p:cNvPr id="3" name="Text 1"/>
          <p:cNvSpPr/>
          <p:nvPr/>
        </p:nvSpPr>
        <p:spPr>
          <a:xfrm>
            <a:off x="8205788" y="381000"/>
            <a:ext cx="238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8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571500" y="714375"/>
            <a:ext cx="7024688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Предлагаемое решение</a:t>
            </a:r>
            <a:endParaRPr lang="en-US" sz="3420" dirty="0"/>
          </a:p>
        </p:txBody>
      </p:sp>
      <p:sp>
        <p:nvSpPr>
          <p:cNvPr id="5" name="Text 3"/>
          <p:cNvSpPr/>
          <p:nvPr/>
        </p:nvSpPr>
        <p:spPr>
          <a:xfrm>
            <a:off x="604838" y="4133850"/>
            <a:ext cx="32242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1E1E1E">
                    <a:alpha val="99000"/>
                  </a:srgbClr>
                </a:solidFill>
                <a:latin typeface="HONOR Sans Medium" panose="00000200000000000000" pitchFamily="2" charset="-122"/>
                <a:ea typeface="HONOR Sans Medium" panose="00000200000000000000" pitchFamily="2" charset="-122"/>
                <a:cs typeface="HONOR Sans Medium" panose="00000200000000000000" pitchFamily="2" charset="-122"/>
              </a:rPr>
              <a:t>Интерактивный интерфейс с распределением финансов в виде карточек</a:t>
            </a:r>
            <a:endParaRPr lang="en-US" sz="855" dirty="0">
              <a:latin typeface="HONOR Sans Medium" panose="00000200000000000000" pitchFamily="2" charset="-122"/>
              <a:ea typeface="HONOR Sans Medium" panose="00000200000000000000" pitchFamily="2" charset="-122"/>
              <a:cs typeface="HONOR Sans Medium" panose="00000200000000000000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4452938" y="4133850"/>
            <a:ext cx="3224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1E1E1E">
                    <a:alpha val="99000"/>
                  </a:srgbClr>
                </a:solidFill>
                <a:latin typeface="HONOR Sans Medium" panose="00000200000000000000" pitchFamily="2" charset="-122"/>
                <a:ea typeface="HONOR Sans Medium" panose="00000200000000000000" pitchFamily="2" charset="-122"/>
                <a:cs typeface="HONOR Sans Medium" panose="00000200000000000000" pitchFamily="2" charset="-122"/>
              </a:rPr>
              <a:t>ИИ помощник для </a:t>
            </a:r>
            <a:r>
              <a:rPr lang="en-US" sz="855" b="1" kern="0" spc="-17" dirty="0" err="1">
                <a:solidFill>
                  <a:srgbClr val="1E1E1E">
                    <a:alpha val="99000"/>
                  </a:srgbClr>
                </a:solidFill>
                <a:latin typeface="HONOR Sans Medium" panose="00000200000000000000" pitchFamily="2" charset="-122"/>
                <a:ea typeface="HONOR Sans Medium" panose="00000200000000000000" pitchFamily="2" charset="-122"/>
                <a:cs typeface="HONOR Sans Medium" panose="00000200000000000000" pitchFamily="2" charset="-122"/>
              </a:rPr>
              <a:t>контроля</a:t>
            </a:r>
            <a:r>
              <a:rPr lang="en-US" sz="855" b="1" kern="0" spc="-17" dirty="0">
                <a:solidFill>
                  <a:srgbClr val="1E1E1E">
                    <a:alpha val="99000"/>
                  </a:srgbClr>
                </a:solidFill>
                <a:latin typeface="HONOR Sans Medium" panose="00000200000000000000" pitchFamily="2" charset="-122"/>
                <a:ea typeface="HONOR Sans Medium" panose="00000200000000000000" pitchFamily="2" charset="-122"/>
                <a:cs typeface="HONOR Sans Medium" panose="00000200000000000000" pitchFamily="2" charset="-122"/>
              </a:rPr>
              <a:t> </a:t>
            </a:r>
            <a:r>
              <a:rPr lang="ru-RU" sz="855" b="1" kern="0" spc="-17" dirty="0">
                <a:solidFill>
                  <a:srgbClr val="1E1E1E">
                    <a:alpha val="99000"/>
                  </a:srgbClr>
                </a:solidFill>
                <a:latin typeface="HONOR Sans Medium" panose="00000200000000000000" pitchFamily="2" charset="-122"/>
                <a:ea typeface="HONOR Sans Medium" panose="00000200000000000000" pitchFamily="2" charset="-122"/>
                <a:cs typeface="HONOR Sans Medium" panose="00000200000000000000" pitchFamily="2" charset="-122"/>
              </a:rPr>
              <a:t>ф</a:t>
            </a:r>
            <a:r>
              <a:rPr lang="en-US" sz="855" b="1" kern="0" spc="-17" dirty="0" err="1">
                <a:solidFill>
                  <a:srgbClr val="1E1E1E">
                    <a:alpha val="99000"/>
                  </a:srgbClr>
                </a:solidFill>
                <a:latin typeface="HONOR Sans Medium" panose="00000200000000000000" pitchFamily="2" charset="-122"/>
                <a:ea typeface="HONOR Sans Medium" panose="00000200000000000000" pitchFamily="2" charset="-122"/>
                <a:cs typeface="HONOR Sans Medium" panose="00000200000000000000" pitchFamily="2" charset="-122"/>
              </a:rPr>
              <a:t>инансов</a:t>
            </a:r>
            <a:endParaRPr lang="en-US" sz="855" dirty="0">
              <a:latin typeface="HONOR Sans Medium" panose="00000200000000000000" pitchFamily="2" charset="-122"/>
              <a:ea typeface="HONOR Sans Medium" panose="00000200000000000000" pitchFamily="2" charset="-122"/>
              <a:cs typeface="HONOR Sans Medium" panose="00000200000000000000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571500" y="1404938"/>
            <a:ext cx="72104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140" b="1" kern="0" spc="-23" dirty="0">
                <a:solidFill>
                  <a:srgbClr val="000000">
                    <a:alpha val="99000"/>
                  </a:srgbClr>
                </a:solidFill>
                <a:latin typeface="HONOR Sans Medium" panose="00000200000000000000" pitchFamily="2" charset="-122"/>
                <a:ea typeface="HONOR Sans Medium" panose="00000200000000000000" pitchFamily="2" charset="-122"/>
                <a:cs typeface="HONOR Sans Medium" panose="00000200000000000000" pitchFamily="2" charset="-122"/>
              </a:rPr>
              <a:t>Сайт для отслеживания финансов с понятным пользовательским интерфейсом и ИИ</a:t>
            </a:r>
            <a:endParaRPr lang="en-US" sz="1140" dirty="0">
              <a:latin typeface="HONOR Sans Medium" panose="00000200000000000000" pitchFamily="2" charset="-122"/>
              <a:ea typeface="HONOR Sans Medium" panose="00000200000000000000" pitchFamily="2" charset="-122"/>
              <a:cs typeface="HONOR Sans Medium" panose="00000200000000000000" pitchFamily="2" charset="-122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985963"/>
            <a:ext cx="3548063" cy="2005013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52938" y="1985963"/>
            <a:ext cx="3543300" cy="2005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2257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стартап-хакатон «пятый элемент» 2026</a:t>
            </a:r>
            <a:endParaRPr lang="en-US" sz="855" dirty="0"/>
          </a:p>
        </p:txBody>
      </p:sp>
      <p:sp>
        <p:nvSpPr>
          <p:cNvPr id="3" name="Text 1"/>
          <p:cNvSpPr/>
          <p:nvPr/>
        </p:nvSpPr>
        <p:spPr>
          <a:xfrm>
            <a:off x="8205788" y="381000"/>
            <a:ext cx="242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8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571500" y="714375"/>
            <a:ext cx="5329238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Рабочий прототип</a:t>
            </a:r>
            <a:endParaRPr lang="en-US" sz="342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833563"/>
            <a:ext cx="4433888" cy="241458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0" y="1452563"/>
            <a:ext cx="28575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2257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стартап-хакатон «пятый элемент» 2026</a:t>
            </a:r>
            <a:endParaRPr lang="en-US" sz="855" dirty="0"/>
          </a:p>
        </p:txBody>
      </p:sp>
      <p:sp>
        <p:nvSpPr>
          <p:cNvPr id="3" name="Text 1"/>
          <p:cNvSpPr/>
          <p:nvPr/>
        </p:nvSpPr>
        <p:spPr>
          <a:xfrm>
            <a:off x="8205788" y="381000"/>
            <a:ext cx="2333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9"/>
              </a:lnSpc>
              <a:buNone/>
            </a:pPr>
            <a:r>
              <a:rPr lang="en-US" sz="855" b="1" kern="0" spc="-17" dirty="0">
                <a:solidFill>
                  <a:srgbClr val="6F7D9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8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571500" y="714375"/>
            <a:ext cx="5329238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Рабочий прототип</a:t>
            </a:r>
            <a:endParaRPr lang="en-US" sz="342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14438" y="1571625"/>
            <a:ext cx="3224213" cy="1752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0588" y="1571625"/>
            <a:ext cx="3228975" cy="17526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95663" y="3505200"/>
            <a:ext cx="2352675" cy="1276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6496050" cy="164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Спасибо за внимание </a:t>
            </a:r>
            <a:endParaRPr lang="en-US" sz="3420" dirty="0"/>
          </a:p>
          <a:p>
            <a:pPr marL="0" indent="0" algn="l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:) :) :)</a:t>
            </a:r>
            <a:endParaRPr lang="en-US" sz="34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247</Words>
  <Application>Microsoft Office PowerPoint</Application>
  <PresentationFormat>Экран (16:9)</PresentationFormat>
  <Paragraphs>54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Unbounded</vt:lpstr>
      <vt:lpstr>Arial</vt:lpstr>
      <vt:lpstr>Inter</vt:lpstr>
      <vt:lpstr>HONOR Sans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Алексей Киргетов</cp:lastModifiedBy>
  <cp:revision>1</cp:revision>
  <dcterms:created xsi:type="dcterms:W3CDTF">2026-09-27T03:54:11Z</dcterms:created>
  <dcterms:modified xsi:type="dcterms:W3CDTF">2026-09-27T03:55:59Z</dcterms:modified>
</cp:coreProperties>
</file>